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" y="1097280"/>
            <a:ext cx="1078992" cy="1078992"/>
          </a:xfrm>
          <a:prstGeom prst="ellipse">
            <a:avLst/>
          </a:prstGeom>
          <a:solidFill>
            <a:srgbClr val="3A0066"/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141732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5608" y="141732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169164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5608" y="1691640"/>
            <a:ext cx="182880" cy="182880"/>
          </a:xfrm>
          <a:prstGeom prst="roundRect">
            <a:avLst>
              <a:gd name="adj" fmla="val 15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788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Condor 4.0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requesting NSHD variables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searching, building baskets and saving them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33272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4FA69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5B8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2350008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C6BC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08376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5FA873"/>
          </a:solidFill>
          <a:ln/>
        </p:spPr>
      </p:sp>
      <p:sp>
        <p:nvSpPr>
          <p:cNvPr id="14" name="Shape 12"/>
          <p:cNvSpPr/>
          <p:nvPr/>
        </p:nvSpPr>
        <p:spPr>
          <a:xfrm>
            <a:off x="3666744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5112" y="512064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C2547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 National Survey of Health and Development  •  Imran Shah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Condor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944368" cy="1097280"/>
          </a:xfrm>
          <a:prstGeom prst="chevron">
            <a:avLst/>
          </a:prstGeom>
          <a:solidFill>
            <a:srgbClr val="D9C4F0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64408" y="1554480"/>
            <a:ext cx="2944368" cy="1097280"/>
          </a:xfrm>
          <a:prstGeom prst="chevron">
            <a:avLst/>
          </a:prstGeom>
          <a:solidFill>
            <a:srgbClr val="B592DE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basket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80176" y="1554480"/>
            <a:ext cx="2944368" cy="1097280"/>
          </a:xfrm>
          <a:prstGeom prst="chevron">
            <a:avLst/>
          </a:prstGeom>
          <a:solidFill>
            <a:srgbClr val="7B3FB0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95944" y="1554480"/>
            <a:ext cx="2944368" cy="1097280"/>
          </a:xfrm>
          <a:prstGeom prst="chevron">
            <a:avLst/>
          </a:prstGeom>
          <a:solidFill>
            <a:srgbClr val="3A0066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name, keyword, category or library.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77184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them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variable or many at a time. Linked variables come along too.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05728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save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basket, then save it with a description.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034272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forward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saved basket to LHA as part of a data request.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gives you metadata: what each variable is, how it is coded and how it relates to others. The data itself is released later, through a data request to LHA.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access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511296" cy="1508760"/>
          </a:xfrm>
          <a:prstGeom prst="roundRect">
            <a:avLst>
              <a:gd name="adj" fmla="val 6061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Register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Register in the menu and complete every field marked with an asterisk (*).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34256" y="1371600"/>
            <a:ext cx="3511296" cy="1508760"/>
          </a:xfrm>
          <a:prstGeom prst="roundRect">
            <a:avLst>
              <a:gd name="adj" fmla="val 6061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Email LHA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username to MRCLHA.Swiftinfo@ucl.ac.uk so your account can be approved.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19872" y="1371600"/>
            <a:ext cx="3511296" cy="1508760"/>
          </a:xfrm>
          <a:prstGeom prst="roundRect">
            <a:avLst>
              <a:gd name="adj" fmla="val 6061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Wait for approval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LHA contacts you by email to confirm. Add their address to your safe senders list.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1183112" cy="2922846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condor_deck/img/reg_bot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11091672" cy="2831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your way around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858000" cy="3270576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1791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1371600"/>
            <a:ext cx="4050792" cy="1417320"/>
          </a:xfrm>
          <a:prstGeom prst="roundRect">
            <a:avLst>
              <a:gd name="adj" fmla="val 6452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bar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OWL, Search, Baskets and More. Use Baskets to save, view, load or share.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971800"/>
            <a:ext cx="4050792" cy="1554480"/>
          </a:xfrm>
          <a:prstGeom prst="roundRect">
            <a:avLst>
              <a:gd name="adj" fmla="val 5882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count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beside Baskets shows how many variables you hold.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99248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1-250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39502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251-500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213848" y="39502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9164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session times out after 15 minutes of inactivity. Variables that have not been saved in a basket are lost, so save before you take a break.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VARIABLES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search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83112" cy="413393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search_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1672" cy="40424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8841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search tips: a trailing * is a wildcard (gluc*), +word requires a term, -word excludes one, "quotes" match an exact phrase, and * on its own returns everything you can see.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VARIABLES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Browsing by category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303520" cy="4345583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12080" cy="42541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137160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Expand or collapse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or - beside a branch to open or close it.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46888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Read the counts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numbers show items per category. Parents may show 0: expand them to find the variables.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56616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Select a category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 appears in the Category Selected bar at the top.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663440"/>
            <a:ext cx="5513832" cy="960120"/>
          </a:xfrm>
          <a:prstGeom prst="roundRect">
            <a:avLst>
              <a:gd name="adj" fmla="val 9524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Search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Search button to list every variable in that category.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VARIABLES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your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035040" cy="3737514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results_i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36460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1371600"/>
            <a:ext cx="4873752" cy="1417320"/>
          </a:xfrm>
          <a:prstGeom prst="roundRect">
            <a:avLst>
              <a:gd name="adj" fmla="val 6452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914400" tIns="1016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icon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variable is also on OWL. Click the icon to open its OWL page in a new tab.</a:t>
            </a:r>
            <a:endParaRPr lang="en-US" sz="1500" dirty="0"/>
          </a:p>
        </p:txBody>
      </p:sp>
      <p:pic>
        <p:nvPicPr>
          <p:cNvPr id="9" name="Image 1" descr="/home/claude/condor_deck/img/ow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764792"/>
            <a:ext cx="457200" cy="6273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66560" y="2971800"/>
            <a:ext cx="4873752" cy="1417320"/>
          </a:xfrm>
          <a:prstGeom prst="roundRect">
            <a:avLst>
              <a:gd name="adj" fmla="val 6452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914400" tIns="1016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Padlock icon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this variable is restricted. Hover over the icon to see the reason.</a:t>
            </a:r>
            <a:endParaRPr lang="en-US" sz="1500" dirty="0"/>
          </a:p>
        </p:txBody>
      </p:sp>
      <p:pic>
        <p:nvPicPr>
          <p:cNvPr id="11" name="Image 2" descr="/home/claude/condor_deck/img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3378708"/>
            <a:ext cx="420624" cy="6046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66560" y="4572000"/>
            <a:ext cx="4873752" cy="1097280"/>
          </a:xfrm>
          <a:prstGeom prst="roundRect">
            <a:avLst>
              <a:gd name="adj" fmla="val 8333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any table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column header to sort, and click again to reverse.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505456" cy="27432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VARIABLE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variable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321040" cy="3713603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var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229600" cy="362216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98280" y="1371600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details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1938528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and longitudinal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2505456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3072384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639312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labels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4206240"/>
            <a:ext cx="2542032" cy="438912"/>
          </a:xfrm>
          <a:prstGeom prst="roundRect">
            <a:avLst>
              <a:gd name="adj" fmla="val 50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59523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labels list every code and what it means. The distribution shows how many participants gave each answer; missing values and very small groups are left out to protect privacy.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505456" cy="27432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VARIABLE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 and linked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08676" cy="1417320"/>
          </a:xfrm>
          <a:prstGeom prst="roundRect">
            <a:avLst>
              <a:gd name="adj" fmla="val 645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longitudinal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Showcase Field ID: identical wording and coding, so results are directly comparable across sweeps.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31636" y="1371600"/>
            <a:ext cx="5408676" cy="1417320"/>
          </a:xfrm>
          <a:prstGeom prst="roundRect">
            <a:avLst>
              <a:gd name="adj" fmla="val 6452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by a shared measure, but wording or coding may differ. Check before treating them as comparable.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11183112" cy="324742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0" descr="/home/claude/condor_deck/img/lin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11091672" cy="3155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variables to your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08676" cy="1234440"/>
          </a:xfrm>
          <a:prstGeom prst="roundRect">
            <a:avLst>
              <a:gd name="adj" fmla="val 7407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variable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Σ in the Add to Basket column.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31636" y="1371600"/>
            <a:ext cx="5408676" cy="1234440"/>
          </a:xfrm>
          <a:prstGeom prst="roundRect">
            <a:avLst>
              <a:gd name="adj" fmla="val 7407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several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Multiple Add boxes, then click Multiple Add. Check ALL ticks every box on the page.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3112" cy="3058247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0" descr="/home/claude/condor_deck/img/multi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11091672" cy="29668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5767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large selection shows a "please wait" screen. That is normal.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variables come too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htn23x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height in cm, at age 77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822960" cy="502920"/>
          </a:xfrm>
          <a:prstGeom prst="rightArrow">
            <a:avLst/>
          </a:prstGeom>
          <a:solidFill>
            <a:srgbClr val="3A00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1463040"/>
            <a:ext cx="6245352" cy="2286000"/>
          </a:xfrm>
          <a:prstGeom prst="roundRect">
            <a:avLst>
              <a:gd name="adj" fmla="val 4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automatically (13 in this example)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0574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ht57u  age 11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0574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ht53u  age 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0574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ht52u  age 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5603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ht99u  age 53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25603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more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108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measure at other ages.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14800"/>
            <a:ext cx="3511296" cy="1554480"/>
          </a:xfrm>
          <a:prstGeom prst="roundRect">
            <a:avLst>
              <a:gd name="adj" fmla="val 588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measure the same thing at other ages, so you don't have to find each one yourself.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34256" y="4114800"/>
            <a:ext cx="3511296" cy="1554480"/>
          </a:xfrm>
          <a:prstGeom prst="roundRect">
            <a:avLst>
              <a:gd name="adj" fmla="val 5882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added, even as linked. They are listed with the reason instead.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4114800"/>
            <a:ext cx="3511296" cy="1554480"/>
          </a:xfrm>
          <a:prstGeom prst="roundRect">
            <a:avLst>
              <a:gd name="adj" fmla="val 5882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them?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Keep linked variables toggle on the next slides.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a data dictionary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126480" cy="2267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upload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21758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206240"/>
            <a:ext cx="3511296" cy="1417320"/>
          </a:xfrm>
          <a:prstGeom prst="roundRect">
            <a:avLst>
              <a:gd name="adj" fmla="val 6452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 the list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Data Dictionary spreadsheet by hand, or download a basket you built on OWL.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334256" y="4206240"/>
            <a:ext cx="3511296" cy="1417320"/>
          </a:xfrm>
          <a:prstGeom prst="roundRect">
            <a:avLst>
              <a:gd name="adj" fmla="val 645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it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 Dictionary, at the end of the OWL menu.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19872" y="4206240"/>
            <a:ext cx="3511296" cy="1417320"/>
          </a:xfrm>
          <a:prstGeom prst="roundRect">
            <a:avLst>
              <a:gd name="adj" fmla="val 6452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adding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names, invalid values, and duplicates are all flagged first.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3716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choosing a file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1737360"/>
            <a:ext cx="5056632" cy="184165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Image 1" descr="/home/claude/condor_deck/img/upload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4965192" cy="17502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Basket Management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503920" cy="3660219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bm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412480" cy="356877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235440" y="1371600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variables you chose.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2514600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as linked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along automatically.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3657600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added.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06139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dropdown filters the table to restricted, added or linked rows. Each row shows the variable name, its label, the result and its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BASKET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or remove linked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linked variables and keeps the one you chose.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exactly the same linked variables.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latest add only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variables in your basket are not touched.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added, so the toggle does not affect them.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716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ON: 1 added + 13 linked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783080"/>
            <a:ext cx="6885432" cy="157652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Image 0" descr="/home/claude/condor_deck/img/bm_o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28800"/>
            <a:ext cx="6793992" cy="148508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846320" y="3633921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OFF: 1 added, 0 linked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4045401"/>
            <a:ext cx="6885432" cy="1505803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5" name="Image 1" descr="/home/claude/condor_deck/img/bm_off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091121"/>
            <a:ext cx="6793992" cy="14143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your current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7772400" cy="3077604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view_bas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29861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1371600"/>
            <a:ext cx="3136392" cy="1097280"/>
          </a:xfrm>
          <a:prstGeom prst="roundRect">
            <a:avLst>
              <a:gd name="adj" fmla="val 8333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scissors, or use Remove All.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615184"/>
            <a:ext cx="3136392" cy="960120"/>
          </a:xfrm>
          <a:prstGeom prst="roundRect">
            <a:avLst>
              <a:gd name="adj" fmla="val 952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and INF cannot be removed.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721608"/>
            <a:ext cx="3136392" cy="960120"/>
          </a:xfrm>
          <a:prstGeom prst="roundRect">
            <a:avLst>
              <a:gd name="adj" fmla="val 9524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SERNO and NTAG1 are always included.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above the table reflects the size of your basket: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406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250: a plain note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311396" y="54406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to 500: within the recommended range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54406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500: slower risk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a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212080" cy="3629475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save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35380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3258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Save from the Baskets menu.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2402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clear description. The counter shows how many of the 100 characters are left.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32461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1546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Submit. A "please wait" screen shows while it saves.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160520"/>
            <a:ext cx="457200" cy="457200"/>
          </a:xfrm>
          <a:prstGeom prst="ellipse">
            <a:avLst/>
          </a:prstGeom>
          <a:solidFill>
            <a:srgbClr val="3A00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406908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confirmation lists what was saved.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descriptions. Saved baskets are listed by creation date, so a vague name is hard to find later.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a large basket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937760" cy="450085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sav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846320" cy="44094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1371600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 variables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is split automatically. SERNO, SEX, INF and NTAG1 are not counted.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487168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lists each new basket ID before you commit.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3602736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SERNO, SEX, INF and NTAG1 are added to each split basket.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4718304"/>
            <a:ext cx="5971032" cy="987552"/>
          </a:xfrm>
          <a:prstGeom prst="roundRect">
            <a:avLst>
              <a:gd name="adj" fmla="val 9259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description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reused, with (Basket 1 of 2) and so on added for you.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641348" cy="274320"/>
          </a:xfrm>
          <a:prstGeom prst="roundRect">
            <a:avLst>
              <a:gd name="adj" fmla="val 50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large requests are reviewed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is the recommended maximum for one saved basket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7982712" cy="1143000"/>
          </a:xfrm>
          <a:prstGeom prst="roundRect">
            <a:avLst>
              <a:gd name="adj" fmla="val 8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together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baskets are assessed as one overall request, not as separate submissions.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51760"/>
            <a:ext cx="7982712" cy="1143000"/>
          </a:xfrm>
          <a:prstGeom prst="roundRect">
            <a:avLst>
              <a:gd name="adj" fmla="val 8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takes longer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variables need a more thorough risk assessment before data can be released.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931920"/>
            <a:ext cx="7982712" cy="1143000"/>
          </a:xfrm>
          <a:prstGeom prst="roundRect">
            <a:avLst>
              <a:gd name="adj" fmla="val 800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be asked why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 variables in total? LHA may ask you to justify the request, even when it was split into several baskets.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saving: review your basket and remove anything you do not need, especially linked variables you did not ask for.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Loading, sharing and downloading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663440" cy="1554480"/>
          </a:xfrm>
          <a:prstGeom prst="roundRect">
            <a:avLst>
              <a:gd name="adj" fmla="val 5882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Share My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saved baskets, newest first. Select one to load it into your working basket, or share it with other users.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663440" cy="1143000"/>
          </a:xfrm>
          <a:prstGeom prst="roundRect">
            <a:avLst>
              <a:gd name="adj" fmla="val 8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Shared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 other users have shared. Load one the same way.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4663440" cy="1143000"/>
          </a:xfrm>
          <a:prstGeom prst="roundRect">
            <a:avLst>
              <a:gd name="adj" fmla="val 8000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Basket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saved basket for use outside Condor.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05272" y="13258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Share My Basket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59552" y="1691640"/>
            <a:ext cx="6126480" cy="1557281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condor_deck/img/saved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737360"/>
            <a:ext cx="6035040" cy="146584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05272" y="3477521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loading a basket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59552" y="3843281"/>
            <a:ext cx="6126480" cy="2259047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1" descr="/home/claude/condor_deck/img/loa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3889001"/>
            <a:ext cx="6035040" cy="21676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7040880" cy="204390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/home/claude/condor_deck/img/restr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1952462"/>
          </a:xfrm>
          <a:prstGeom prst="rect">
            <a:avLst/>
          </a:prstGeom>
        </p:spPr>
      </p:pic>
      <p:pic>
        <p:nvPicPr>
          <p:cNvPr id="8" name="Image 1" descr="/home/claude/condor_deck/img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72702"/>
            <a:ext cx="640080" cy="9201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3781262"/>
            <a:ext cx="5943600" cy="1463040"/>
          </a:xfrm>
          <a:prstGeom prst="roundRect">
            <a:avLst>
              <a:gd name="adj" fmla="val 6250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added, even as linked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variables still appear on Basket Management with the reason, so you can see what was left out.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146304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add this variable to a basket.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292608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the padlock to see the reason and who to ask.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438912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access?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LHA using the link in the site footer.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Condor and OWL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08676" cy="3429000"/>
          </a:xfrm>
          <a:prstGeom prst="roundRect">
            <a:avLst>
              <a:gd name="adj" fmla="val 2667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9514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by name, keyword, category or library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Build, save, load and share baskets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Prepare a data request for LHA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Needs an approved Condor account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31636" y="1371600"/>
            <a:ext cx="5408676" cy="3429000"/>
          </a:xfrm>
          <a:prstGeom prst="roundRect">
            <a:avLst>
              <a:gd name="adj" fmla="val 2667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</a:t>
            </a:r>
            <a:endParaRPr lang="en-US" sz="2000" dirty="0"/>
          </a:p>
        </p:txBody>
      </p:sp>
      <p:pic>
        <p:nvPicPr>
          <p:cNvPr id="9" name="Image 0" descr="/home/claude/condor_deck/img/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1508760"/>
            <a:ext cx="548640" cy="7527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60236" y="2194560"/>
            <a:ext cx="49514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metadata platform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Condor account needed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Guided walkthrough for first-time users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owl icon in Condor links straight to a variable's OWL page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1206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DCE8F7"/>
          </a:solidFill>
          <a:ln w="9525">
            <a:solidFill>
              <a:srgbClr val="5B84B5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guided walkthrough under the OWL menu in Condor.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545336" cy="274320"/>
          </a:xfrm>
          <a:prstGeom prst="roundRect">
            <a:avLst>
              <a:gd name="adj" fmla="val 50000"/>
            </a:avLst>
          </a:prstGeom>
          <a:solidFill>
            <a:srgbClr val="DFF2E1"/>
          </a:solidFill>
          <a:ln w="9525">
            <a:solidFill>
              <a:srgbClr val="5FA8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HELP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where to get help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 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2401214" cy="1005840"/>
          </a:xfrm>
          <a:prstGeom prst="chevron">
            <a:avLst/>
          </a:prstGeom>
          <a:solidFill>
            <a:srgbClr val="E1D0F3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21254" y="1463040"/>
            <a:ext cx="2401214" cy="1005840"/>
          </a:xfrm>
          <a:prstGeom prst="chevron">
            <a:avLst/>
          </a:prstGeom>
          <a:solidFill>
            <a:srgbClr val="C7A6E6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3869" y="1463040"/>
            <a:ext cx="2401214" cy="1005840"/>
          </a:xfrm>
          <a:prstGeom prst="chevron">
            <a:avLst/>
          </a:prstGeom>
          <a:solidFill>
            <a:srgbClr val="A57BD1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66483" y="1463040"/>
            <a:ext cx="2401214" cy="1005840"/>
          </a:xfrm>
          <a:prstGeom prst="chevron">
            <a:avLst/>
          </a:prstGeom>
          <a:solidFill>
            <a:srgbClr val="7B3FB0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239098" y="1463040"/>
            <a:ext cx="2401214" cy="1005840"/>
          </a:xfrm>
          <a:prstGeom prst="chevron">
            <a:avLst/>
          </a:prstGeom>
          <a:solidFill>
            <a:srgbClr val="3A0066"/>
          </a:solidFill>
          <a:ln/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3511296" cy="1600200"/>
          </a:xfrm>
          <a:prstGeom prst="roundRect">
            <a:avLst>
              <a:gd name="adj" fmla="val 5714"/>
            </a:avLst>
          </a:prstGeom>
          <a:solidFill>
            <a:srgbClr val="E8DFF5"/>
          </a:solidFill>
          <a:ln w="9525">
            <a:solidFill>
              <a:srgbClr val="8C6BC2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D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pages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help from the menu, covering the same ground as this session.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3108960"/>
            <a:ext cx="3511296" cy="1600200"/>
          </a:xfrm>
          <a:prstGeom prst="roundRect">
            <a:avLst>
              <a:gd name="adj" fmla="val 5714"/>
            </a:avLst>
          </a:prstGeom>
          <a:solidFill>
            <a:srgbClr val="D7F0EE"/>
          </a:solidFill>
          <a:ln w="9525">
            <a:solidFill>
              <a:srgbClr val="4FA69E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walkthrough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hands-on introduction, from the OWL menu.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3108960"/>
            <a:ext cx="3511296" cy="1600200"/>
          </a:xfrm>
          <a:prstGeom prst="roundRect">
            <a:avLst>
              <a:gd name="adj" fmla="val 5714"/>
            </a:avLst>
          </a:prstGeom>
          <a:solidFill>
            <a:srgbClr val="FCEBD2"/>
          </a:solidFill>
          <a:ln w="9525">
            <a:solidFill>
              <a:srgbClr val="D9A441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LHA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access, restricted variables or sharing a basket, use the link in the site footer.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7DDE6"/>
          </a:solidFill>
          <a:ln w="9525">
            <a:solidFill>
              <a:srgbClr val="C2547D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save before your session times out after 15 minutes of inactivity.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Condor 4.0 - Using Condor</dc:title>
  <dc:subject>PptxGenJS Presentation</dc:subject>
  <dc:creator>PptxGenJS</dc:creator>
  <cp:lastModifiedBy>PptxGenJS</cp:lastModifiedBy>
  <cp:revision>1</cp:revision>
  <dcterms:created xsi:type="dcterms:W3CDTF">2026-09-29T20:08:48Z</dcterms:created>
  <dcterms:modified xsi:type="dcterms:W3CDTF">2026-09-29T20:08:48Z</dcterms:modified>
</cp:coreProperties>
</file>